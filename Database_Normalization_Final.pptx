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</a:t>
            </a:r>
            <a:endParaRPr lang="en-US"/>
          </a:p>
          <a:p>
            <a:pPr marL="0" indent="0">
              <a:buNone/>
            </a:pPr>
            <a:r>
              <a:rPr lang="en-US"/>
              <a:t>                                                        Sharon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Database Normalization?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Organizing data in a database</a:t>
            </a:r>
          </a:p>
          <a:p>
            <a:r>
              <a:t> Removes redundancy</a:t>
            </a:r>
          </a:p>
          <a:p>
            <a:r>
              <a:t> Improves data integrity &amp;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Normalize?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duplicate data</a:t>
            </a:r>
          </a:p>
          <a:p>
            <a:r>
              <a:t>Saves storage</a:t>
            </a:r>
          </a:p>
          <a:p>
            <a:r>
              <a:t>Ensures data consistency</a:t>
            </a:r>
          </a:p>
          <a:p>
            <a:r>
              <a:t>Faster 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1NF – Atomic values, no repeating groups</a:t>
            </a:r>
          </a:p>
          <a:p>
            <a:r>
              <a:t>2NF – 1NF + no partial dependency</a:t>
            </a:r>
          </a:p>
          <a:p>
            <a:r>
              <a:t>3NF – 2NF + no transitive dependency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Before Normalization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71500">
                <a:tc>
                  <a:txBody>
                    <a:bodyPr/>
                    <a:lstStyle/>
                    <a:p>
                      <a:r>
                        <a:t>StudentID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Instructor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Rao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Mehta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After Normalization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1097280"/>
          <a:ext cx="2560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t>StudentID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StudentName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Anita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Rahul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3108960"/>
          <a:ext cx="2560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</a:tblGrid>
              <a:tr h="548640">
                <a:tc>
                  <a:txBody>
                    <a:bodyPr/>
                    <a:lstStyle/>
                    <a:p>
                      <a:r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Instructor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Rao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Mehta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5120640"/>
          <a:ext cx="2560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r>
                        <a:t>StudentID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Course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DBMS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/>
        <p:txBody>
          <a:bodyPr/>
          <a:p>
            <a:r>
              <a:rPr lang="en-US"/>
              <a:t>RULE</a:t>
            </a:r>
            <a:endParaRPr lang="en-US"/>
          </a:p>
          <a:p>
            <a:r>
              <a:rPr lang="en-US"/>
              <a:t>Each cell should have atomic values(single values)</a:t>
            </a:r>
            <a:endParaRPr lang="en-US"/>
          </a:p>
          <a:p>
            <a:r>
              <a:rPr lang="en-US"/>
              <a:t>no repeating groups or arrays</a:t>
            </a:r>
            <a:endParaRPr lang="en-US"/>
          </a:p>
          <a:p>
            <a:r>
              <a:rPr lang="en-US"/>
              <a:t>each record is unique</a:t>
            </a:r>
            <a:endParaRPr lang="en-US"/>
          </a:p>
        </p:txBody>
      </p:sp>
      <p:sp>
        <p:nvSpPr>
          <p:cNvPr id="5" name="Title 4"/>
          <p:cNvSpPr/>
          <p:nvPr>
            <p:ph type="title"/>
          </p:nvPr>
        </p:nvSpPr>
        <p:spPr/>
        <p:txBody>
          <a:bodyPr/>
          <a:p>
            <a:r>
              <a:rPr lang="en-US"/>
              <a:t>1NF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IMG_7633"/>
          <p:cNvPicPr>
            <a:picLocks noChangeAspect="1"/>
          </p:cNvPicPr>
          <p:nvPr>
            <p:ph idx="1"/>
          </p:nvPr>
        </p:nvPicPr>
        <p:blipFill>
          <a:blip r:embed="rId1"/>
          <a:srcRect t="31706" r="-1733" b="2972"/>
          <a:stretch>
            <a:fillRect/>
          </a:stretch>
        </p:blipFill>
        <p:spPr>
          <a:xfrm>
            <a:off x="1525905" y="678815"/>
            <a:ext cx="5024120" cy="50939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2NF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RULE</a:t>
            </a:r>
            <a:endParaRPr lang="en-US"/>
          </a:p>
          <a:p>
            <a:r>
              <a:rPr lang="en-US"/>
              <a:t>must already be in 1NF</a:t>
            </a:r>
            <a:endParaRPr lang="en-US"/>
          </a:p>
          <a:p>
            <a:r>
              <a:rPr lang="en-US"/>
              <a:t>no partial dependency(non key columns should depend on full primary key and not part of it)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G_7634"/>
          <p:cNvPicPr>
            <a:picLocks noChangeAspect="1"/>
          </p:cNvPicPr>
          <p:nvPr>
            <p:ph idx="1"/>
          </p:nvPr>
        </p:nvPicPr>
        <p:blipFill>
          <a:blip r:embed="rId1"/>
          <a:srcRect t="37991" r="-8791"/>
          <a:stretch>
            <a:fillRect/>
          </a:stretch>
        </p:blipFill>
        <p:spPr>
          <a:xfrm>
            <a:off x="488950" y="1259840"/>
            <a:ext cx="4109720" cy="3754755"/>
          </a:xfrm>
          <a:prstGeom prst="rect">
            <a:avLst/>
          </a:prstGeom>
        </p:spPr>
      </p:pic>
      <p:pic>
        <p:nvPicPr>
          <p:cNvPr id="6" name="Picture 5" descr="IMG_76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670" y="1043305"/>
            <a:ext cx="4177030" cy="49949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3NF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RULE</a:t>
            </a:r>
            <a:endParaRPr lang="en-US"/>
          </a:p>
          <a:p>
            <a:r>
              <a:rPr lang="en-US"/>
              <a:t>must be in 2NF</a:t>
            </a:r>
            <a:endParaRPr lang="en-US"/>
          </a:p>
          <a:p>
            <a:r>
              <a:rPr lang="en-US"/>
              <a:t>no transitive kay dependenct(non key column should not depend on another non key column)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G_7636"/>
          <p:cNvPicPr>
            <a:picLocks noChangeAspect="1"/>
          </p:cNvPicPr>
          <p:nvPr>
            <p:ph idx="1"/>
          </p:nvPr>
        </p:nvPicPr>
        <p:blipFill>
          <a:blip r:embed="rId1"/>
          <a:srcRect t="41120" r="-1383"/>
          <a:stretch>
            <a:fillRect/>
          </a:stretch>
        </p:blipFill>
        <p:spPr>
          <a:xfrm>
            <a:off x="285750" y="1640205"/>
            <a:ext cx="4286250" cy="3030855"/>
          </a:xfrm>
          <a:prstGeom prst="rect">
            <a:avLst/>
          </a:prstGeom>
        </p:spPr>
      </p:pic>
      <p:pic>
        <p:nvPicPr>
          <p:cNvPr id="5" name="Picture 4" descr="IMG_7637"/>
          <p:cNvPicPr>
            <a:picLocks noChangeAspect="1"/>
          </p:cNvPicPr>
          <p:nvPr/>
        </p:nvPicPr>
        <p:blipFill>
          <a:blip r:embed="rId2"/>
          <a:srcRect b="42306"/>
          <a:stretch>
            <a:fillRect/>
          </a:stretch>
        </p:blipFill>
        <p:spPr>
          <a:xfrm>
            <a:off x="4392930" y="1640205"/>
            <a:ext cx="4180840" cy="39566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1028</Words>
  <Application>WPS Presentation</Application>
  <PresentationFormat>On-screen Show (4:3)</PresentationFormat>
  <Paragraphs>124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Helvetica Neue</vt:lpstr>
      <vt:lpstr>Microsoft YaHei</vt:lpstr>
      <vt:lpstr>汉仪旗黑</vt:lpstr>
      <vt:lpstr>Arial Unicode MS</vt:lpstr>
      <vt:lpstr>汉仪书宋二KW</vt:lpstr>
      <vt:lpstr>Office Theme</vt:lpstr>
      <vt:lpstr>Database Normalization</vt:lpstr>
      <vt:lpstr>What is Database Normalization?</vt:lpstr>
      <vt:lpstr>Why Normalize?</vt:lpstr>
      <vt:lpstr>Normalization Forms</vt:lpstr>
      <vt:lpstr>Example: Before Normalization</vt:lpstr>
      <vt:lpstr>Example: After Normalization</vt:lpstr>
      <vt:lpstr>Extra Example: Employee DB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Karunya Sharon</cp:lastModifiedBy>
  <cp:revision>2</cp:revision>
  <dcterms:created xsi:type="dcterms:W3CDTF">2025-11-02T10:46:35Z</dcterms:created>
  <dcterms:modified xsi:type="dcterms:W3CDTF">2025-11-02T10:46:35Z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55E2FE217B5A2DFE8B360769C558D33F_42</vt:lpwstr>
  </property>
  <property fmtid="{D5CDD505-2E9C-101B-9397-08002B2CF9AE}" pid="3" name="KSOProductBuildVer">
    <vt:lpwstr>1033-6.11.0.8615</vt:lpwstr>
  </property>
</Properties>
</file>